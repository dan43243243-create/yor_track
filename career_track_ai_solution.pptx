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2–5.
- Титульный слайд и визуальный стиль адаптированы под оформление предоставленного кейса.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2–3: целевая аудитория, социальный статус, потребности и проблематика.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4–5: требуемые функциональные компоненты и ожидаемый результат.
- Формат mini app внутри Telegram предложен как продуктовая интерпретация требования об интеграции с Telegram API.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Сценарий построен на основе требований брифа: диагностика пользователя, рекомендации, карьерный навигатор и поиск вакансий (PDF, стр. 4–5).
- Оценка длительности шага — проектное допущение для удобства пользовательского пути.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4: перечень обязательных функциональных компонентов.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4–5.
- DeepSeek публикует открытые модели и репозитории на GitHub; пример официальных репозиториев семейства DeepSeek-V3 и DeepSeek-R1: GitHub deepseek-ai. — https://github.com/deepseek-ai
- DeepSeek также описывает релиз DeepSeek-R1 как fully open-source в официальной документации API. — https://api-docs.deepseek.com/news/news250120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5: интеграция с Telegram API, open-source языковые модели и работа с открытыми источниками вакансий.
- Telegram Bot API — это HTTP-based interface для разработки ботов; официальный док: https://core.telegram.org/bots/api
- HeadHunter предоставляет официальный API для вакансий и интеграций: https://dev.hh.ru/
- DeepSeek публикует открытые репозитории моделей на GitHub: https://github.com/deepseek-ai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Сроки MVP и пилота — проектное предложение автора решения; в исходном брифе сроки не заданы.
- Состав MVP вытекает из обязательных модулей кейса (PDF, стр. 4–5).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KPI на слайде — целевые показатели пилота, а не внешняя статистика.
- Бизнес-эффект для МТС — продуктовая гипотеза, основанная на сценарии использования сервиса.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Риски и меры снижения — авторское проектное предложение для реализации кейса.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Пользовательский кейс: PDF «Кейс_для_категории_С_Карьерный_трек_AI», стр. 4–5.
- Telegram Bot API: https://core.telegram.org/bots/api
- HeadHunter API: https://dev.hh.ru/
- DeepSeek GitHub: https://github.com/deepseek-ai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80644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5303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91640"/>
            <a:ext cx="5897880" cy="2057400"/>
          </a:xfrm>
          <a:prstGeom prst="roundRect">
            <a:avLst>
              <a:gd name="adj" fmla="val 3556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4E6E8">
                <a:alpha val="16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4128" y="1901952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Готовое решение кейса МТС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4128" y="2359152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dirty="0">
                <a:solidFill>
                  <a:srgbClr val="E9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Telegram-агент для школьников и студентов 16–22 лет, который помогает выбрать карьерное направление, понять дефицит навыков и быстро найти первую стажировку, подработку или junior-вакансию.</a:t>
            </a:r>
            <a:endParaRPr lang="en-US" sz="1650" dirty="0"/>
          </a:p>
        </p:txBody>
      </p:sp>
      <p:sp>
        <p:nvSpPr>
          <p:cNvPr id="9" name="Shape 6"/>
          <p:cNvSpPr/>
          <p:nvPr/>
        </p:nvSpPr>
        <p:spPr>
          <a:xfrm>
            <a:off x="7699248" y="1810512"/>
            <a:ext cx="2788920" cy="3154680"/>
          </a:xfrm>
          <a:prstGeom prst="roundRect">
            <a:avLst>
              <a:gd name="adj" fmla="val 1967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  <a:effectLst>
            <a:outerShdw sx="100000" sy="100000" kx="0" ky="0" algn="bl" rotWithShape="0" blurRad="15240" dist="12700" dir="2700000">
              <a:srgbClr val="000000">
                <a:alpha val="16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973568" y="19933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</a:t>
            </a:r>
            <a:endParaRPr lang="en-US" sz="4600" dirty="0"/>
          </a:p>
        </p:txBody>
      </p:sp>
      <p:sp>
        <p:nvSpPr>
          <p:cNvPr id="11" name="Text 8"/>
          <p:cNvSpPr/>
          <p:nvPr/>
        </p:nvSpPr>
        <p:spPr>
          <a:xfrm>
            <a:off x="9281160" y="19933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</a:t>
            </a:r>
            <a:endParaRPr lang="en-US" sz="4600" dirty="0"/>
          </a:p>
        </p:txBody>
      </p:sp>
      <p:sp>
        <p:nvSpPr>
          <p:cNvPr id="12" name="Text 9"/>
          <p:cNvSpPr/>
          <p:nvPr/>
        </p:nvSpPr>
        <p:spPr>
          <a:xfrm>
            <a:off x="9281160" y="349300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7973568" y="4343400"/>
            <a:ext cx="226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E6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case-ready concept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77824" y="4069080"/>
            <a:ext cx="2148840" cy="384048"/>
          </a:xfrm>
          <a:prstGeom prst="roundRect">
            <a:avLst>
              <a:gd name="adj" fmla="val 19048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25343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87552" y="4142232"/>
            <a:ext cx="1929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+ mini app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218688" y="406908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2C6B73">
              <a:alpha val="82000"/>
            </a:srgbClr>
          </a:solidFill>
          <a:ln w="12700">
            <a:solidFill>
              <a:srgbClr val="2C6B73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328416" y="414223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LLM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413248" y="4069080"/>
            <a:ext cx="1993392" cy="384048"/>
          </a:xfrm>
          <a:prstGeom prst="roundRect">
            <a:avLst>
              <a:gd name="adj" fmla="val 19048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25343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22976" y="4142232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 + трек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41248" y="4983480"/>
            <a:ext cx="7543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Результат: не просто «бот с советами», а персональный AI-наставник, который переводит пользователя из состояния «не знаю, кем быть» в понятный план действий.</a:t>
            </a:r>
            <a:endParaRPr lang="en-US" sz="1850" dirty="0"/>
          </a:p>
        </p:txBody>
      </p:sp>
      <p:sp>
        <p:nvSpPr>
          <p:cNvPr id="21" name="Text 18"/>
          <p:cNvSpPr/>
          <p:nvPr/>
        </p:nvSpPr>
        <p:spPr>
          <a:xfrm>
            <a:off x="859536" y="565099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AF5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Авторское решение включает анализ брифа, продуктовую концепцию, архитектуру, MVP, KPI и план пилота.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41605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3657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БРИФА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58368" y="1508760"/>
            <a:ext cx="3246120" cy="4251960"/>
          </a:xfrm>
          <a:prstGeom prst="roundRect">
            <a:avLst>
              <a:gd name="adj" fmla="val 169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6656" y="1581912"/>
            <a:ext cx="73152" cy="410565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1248" y="1618488"/>
            <a:ext cx="2953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Целевая аудитория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41248" y="2020824"/>
            <a:ext cx="2953512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16–22 года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школьники старших классов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студенты СПО и вузов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находятся на старте карьеры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активно используют цифровые технологии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 нужна не длинная профориентация, а быстрый и понятный путь: кто я, куда мне идти и что делать уже сейчас.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315968" y="1600200"/>
            <a:ext cx="6903720" cy="1078992"/>
          </a:xfrm>
          <a:prstGeom prst="roundRect">
            <a:avLst>
              <a:gd name="adj" fmla="val 508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34256" y="1673352"/>
            <a:ext cx="73152" cy="93268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98848" y="1709928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1. Нет профессионального самоопределения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498848" y="2112264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понимает, какие направления реально подходят именно ему и как выбирать профессию без опыта.</a:t>
            </a:r>
            <a:endParaRPr lang="en-US" sz="1340" dirty="0"/>
          </a:p>
        </p:txBody>
      </p:sp>
      <p:sp>
        <p:nvSpPr>
          <p:cNvPr id="14" name="Shape 11"/>
          <p:cNvSpPr/>
          <p:nvPr/>
        </p:nvSpPr>
        <p:spPr>
          <a:xfrm>
            <a:off x="4315968" y="2880360"/>
            <a:ext cx="6903720" cy="1078992"/>
          </a:xfrm>
          <a:prstGeom prst="roundRect">
            <a:avLst>
              <a:gd name="adj" fmla="val 508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334256" y="2953512"/>
            <a:ext cx="73152" cy="93268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498848" y="2990088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2. Сложно найти первую работу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4498848" y="3392424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Во время учебы трудно отсеять подходящие стажировки и подработки по возрасту, графику, опыту и уровню навыков.</a:t>
            </a:r>
            <a:endParaRPr lang="en-US" sz="1340" dirty="0"/>
          </a:p>
        </p:txBody>
      </p:sp>
      <p:sp>
        <p:nvSpPr>
          <p:cNvPr id="18" name="Shape 15"/>
          <p:cNvSpPr/>
          <p:nvPr/>
        </p:nvSpPr>
        <p:spPr>
          <a:xfrm>
            <a:off x="4315968" y="4160520"/>
            <a:ext cx="6903720" cy="1078992"/>
          </a:xfrm>
          <a:prstGeom prst="roundRect">
            <a:avLst>
              <a:gd name="adj" fmla="val 508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334256" y="4233672"/>
            <a:ext cx="73152" cy="93268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98848" y="4270248"/>
            <a:ext cx="66111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 3. Неясен карьерный путь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4498848" y="4672584"/>
            <a:ext cx="6611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Даже если направление интересно, непонятно, какие навыки развивать, какие шаги делать и в какой последовательности.</a:t>
            </a:r>
            <a:endParaRPr lang="en-US" sz="1320" dirty="0"/>
          </a:p>
        </p:txBody>
      </p:sp>
      <p:sp>
        <p:nvSpPr>
          <p:cNvPr id="22" name="Shape 19"/>
          <p:cNvSpPr/>
          <p:nvPr/>
        </p:nvSpPr>
        <p:spPr>
          <a:xfrm>
            <a:off x="4315968" y="5577840"/>
            <a:ext cx="6903720" cy="658368"/>
          </a:xfrm>
          <a:prstGeom prst="roundRect">
            <a:avLst>
              <a:gd name="adj" fmla="val 6944"/>
            </a:avLst>
          </a:prstGeom>
          <a:solidFill>
            <a:srgbClr val="F3F6F7">
              <a:alpha val="95000"/>
            </a:srgbClr>
          </a:solidFill>
          <a:ln w="12700">
            <a:solidFill>
              <a:srgbClr val="F3F6F7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535424" y="5742432"/>
            <a:ext cx="6446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60" b="1" dirty="0">
                <a:solidFill>
                  <a:srgbClr val="5057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Вывод: нужен AI-агент, который объединяет диагностику, профориентацию, карьерный план и релевантные вакансии в одном сценарии.</a:t>
            </a:r>
            <a:endParaRPr lang="en-US" sz="14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44068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ПРОДУКТОВОЕ РЕШЕНИЕ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77240" y="1481328"/>
            <a:ext cx="10515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Формат: Telegram-бот с mini app, чтобы вход был быстрым, а сложные экраны (диагностика, карьерная карта, вакансии) открывались внутри Web App.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822960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50976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Диагностика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9264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 + интересы + навыки + ограничения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670048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3090672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18688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Профиль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236976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собирает карту сильных сторон и дефицитов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937760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358384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EB003B"/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486400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Направления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5504688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профессии с объяснением «почему подходит»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205472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7626096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754112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Карьерный трек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772400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 30/60/90 дней и этапы роста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9473184" y="3319272"/>
            <a:ext cx="347472" cy="0"/>
          </a:xfrm>
          <a:prstGeom prst="line">
            <a:avLst/>
          </a:prstGeom>
          <a:noFill/>
          <a:ln w="22860">
            <a:solidFill>
              <a:srgbClr val="E5F3F4"/>
            </a:solidFill>
            <a:prstDash val="solid"/>
            <a:headEnd type="none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9893808" y="2286000"/>
            <a:ext cx="1828800" cy="2057400"/>
          </a:xfrm>
          <a:prstGeom prst="roundRect">
            <a:avLst>
              <a:gd name="adj" fmla="val 300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7E7E8">
                <a:alpha val="18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021824" y="2487168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Вакансии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040112" y="3127248"/>
            <a:ext cx="15361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стажировок и junior-вакансий под профиль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1024128" y="4937760"/>
            <a:ext cx="10058400" cy="841248"/>
          </a:xfrm>
          <a:prstGeom prst="roundRect">
            <a:avLst>
              <a:gd name="adj" fmla="val 6522"/>
            </a:avLst>
          </a:prstGeom>
          <a:solidFill>
            <a:srgbClr val="ECECEC">
              <a:alpha val="96000"/>
            </a:srgbClr>
          </a:solidFill>
          <a:ln w="12700">
            <a:solidFill>
              <a:srgbClr val="ECECEC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98448" y="5148072"/>
            <a:ext cx="9555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4C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Ключевая ценность: пользователь получает не абстрактный совет, а связку «подходящее направление → конкретный план развития → реальные вакансии здесь и сейчас».</a:t>
            </a:r>
            <a:endParaRPr lang="en-US" sz="1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46177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114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ПУТЬ ПОЛЬЗОВАТЕЛЯ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1417320"/>
            <a:ext cx="9875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Сценарий должен занимать не больше 7–10 минут до первого полезного результата.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49808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86384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Старт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Профиль, возраст, город, формат занятости</a:t>
            </a:r>
            <a:endParaRPr lang="en-US" sz="1240" dirty="0"/>
          </a:p>
        </p:txBody>
      </p:sp>
      <p:sp>
        <p:nvSpPr>
          <p:cNvPr id="11" name="Shape 8"/>
          <p:cNvSpPr/>
          <p:nvPr/>
        </p:nvSpPr>
        <p:spPr>
          <a:xfrm>
            <a:off x="2450592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542032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651760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2688336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Диагностика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688336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Интересы, предметы, навыки, опыт, доступное время</a:t>
            </a:r>
            <a:endParaRPr lang="en-US" sz="1240" dirty="0"/>
          </a:p>
        </p:txBody>
      </p:sp>
      <p:sp>
        <p:nvSpPr>
          <p:cNvPr id="16" name="Shape 13"/>
          <p:cNvSpPr/>
          <p:nvPr/>
        </p:nvSpPr>
        <p:spPr>
          <a:xfrm>
            <a:off x="4352544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4443984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EB003B"/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53712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90288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Рекомендации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4590288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Топ-3 карьерных направления и fit-score</a:t>
            </a:r>
            <a:endParaRPr lang="en-US" sz="1240" dirty="0"/>
          </a:p>
        </p:txBody>
      </p:sp>
      <p:sp>
        <p:nvSpPr>
          <p:cNvPr id="21" name="Shape 18"/>
          <p:cNvSpPr/>
          <p:nvPr/>
        </p:nvSpPr>
        <p:spPr>
          <a:xfrm>
            <a:off x="6254496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6345936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55664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6492240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6492240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Персональный трек 30/60/90 дней</a:t>
            </a:r>
            <a:endParaRPr lang="en-US" sz="1240" dirty="0"/>
          </a:p>
        </p:txBody>
      </p:sp>
      <p:sp>
        <p:nvSpPr>
          <p:cNvPr id="26" name="Shape 23"/>
          <p:cNvSpPr/>
          <p:nvPr/>
        </p:nvSpPr>
        <p:spPr>
          <a:xfrm>
            <a:off x="8156448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8247888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357616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50" dirty="0"/>
          </a:p>
        </p:txBody>
      </p:sp>
      <p:sp>
        <p:nvSpPr>
          <p:cNvPr id="29" name="Text 26"/>
          <p:cNvSpPr/>
          <p:nvPr/>
        </p:nvSpPr>
        <p:spPr>
          <a:xfrm>
            <a:off x="8394192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394192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Подбор стажировок, подработок и junior-ролей</a:t>
            </a:r>
            <a:endParaRPr lang="en-US" sz="1240" dirty="0"/>
          </a:p>
        </p:txBody>
      </p:sp>
      <p:sp>
        <p:nvSpPr>
          <p:cNvPr id="31" name="Shape 28"/>
          <p:cNvSpPr/>
          <p:nvPr/>
        </p:nvSpPr>
        <p:spPr>
          <a:xfrm>
            <a:off x="10058400" y="3675888"/>
            <a:ext cx="64008" cy="0"/>
          </a:xfrm>
          <a:prstGeom prst="line">
            <a:avLst/>
          </a:prstGeom>
          <a:noFill/>
          <a:ln w="1905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32" name="Shape 29"/>
          <p:cNvSpPr/>
          <p:nvPr/>
        </p:nvSpPr>
        <p:spPr>
          <a:xfrm>
            <a:off x="10149840" y="2148840"/>
            <a:ext cx="1792224" cy="3017520"/>
          </a:xfrm>
          <a:prstGeom prst="roundRect">
            <a:avLst>
              <a:gd name="adj" fmla="val 3061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D8E9EA">
                <a:alpha val="18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0259568" y="2313432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7DA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250" dirty="0"/>
          </a:p>
        </p:txBody>
      </p:sp>
      <p:sp>
        <p:nvSpPr>
          <p:cNvPr id="34" name="Text 31"/>
          <p:cNvSpPr/>
          <p:nvPr/>
        </p:nvSpPr>
        <p:spPr>
          <a:xfrm>
            <a:off x="10296144" y="2670048"/>
            <a:ext cx="1499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Сопровождение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0296144" y="3154680"/>
            <a:ext cx="149961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Недельные напоминания, CV и интервью-советы</a:t>
            </a:r>
            <a:endParaRPr lang="en-US" sz="1240" dirty="0"/>
          </a:p>
        </p:txBody>
      </p:sp>
      <p:sp>
        <p:nvSpPr>
          <p:cNvPr id="36" name="Text 33"/>
          <p:cNvSpPr/>
          <p:nvPr/>
        </p:nvSpPr>
        <p:spPr>
          <a:xfrm>
            <a:off x="932688" y="571500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Первый wow-момент — уже после диагностики: бот не просто перечисляет профессии, а объясняет, почему именно эти направления подходят пользователю.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66928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ФУНКЦИОНАЛЬНЫЕ МОДУЛИ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13232" y="15087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31520" y="1581912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96112" y="1618488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Система диагностики пользователя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96112" y="2020824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базовые данные: возраст, город, образование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интересы, любимые предметы, формат работы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оценка hard/soft/digital skills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загрузка CV или свободного описания о себе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144768" y="1508760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63056" y="1581912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27648" y="1618488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Рекомендательная система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6327648" y="2020824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определение профессиональных склонностей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подбор 3–5 направлений с fit-score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объяснение сильных сторон и зон роста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персональный список навыков к развитию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713232" y="3675888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31520" y="3749040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96112" y="3785616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Карьерный навигатор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896112" y="4187952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карта роста: стартовая роль → следующая роль → цель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план 30/60/90 дней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рекомендованные курсы, практики и проекты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напоминания и прогресс по этапам</a:t>
            </a:r>
            <a:endParaRPr lang="en-US" sz="1330" dirty="0"/>
          </a:p>
        </p:txBody>
      </p:sp>
      <p:sp>
        <p:nvSpPr>
          <p:cNvPr id="18" name="Shape 15"/>
          <p:cNvSpPr/>
          <p:nvPr/>
        </p:nvSpPr>
        <p:spPr>
          <a:xfrm>
            <a:off x="6144768" y="3675888"/>
            <a:ext cx="5349240" cy="1920240"/>
          </a:xfrm>
          <a:prstGeom prst="roundRect">
            <a:avLst>
              <a:gd name="adj" fmla="val 28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163056" y="3749040"/>
            <a:ext cx="73152" cy="17739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327648" y="3785616"/>
            <a:ext cx="5056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Система поиска вакансий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6327648" y="4187952"/>
            <a:ext cx="5056632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фильтрация по возрасту, графику, образованию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учет навыков и уровня опыта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акцент на стажировки, part-time и junior-вакансии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объяснение, почему вакансия подходит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85216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5349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AI-ЯДРО И ЛОГИКА РЕШЕНИЯ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41732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9536" y="1463040"/>
            <a:ext cx="18653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гибридный подход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822960" y="178308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87552" y="188366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Данные пользователя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15184" y="18836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анкета, навыки, свободный текст, CV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44952" y="233172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822960" y="251460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87552" y="261518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Структурный скоринг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615184" y="261518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 + навыки + ограничения + мотивация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3044952" y="306324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822960" y="324612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87552" y="334670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База профессий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615184" y="334670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карточки ролей, требования, карьерные переходы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3044952" y="379476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822960" y="397764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EB003B"/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87552" y="407822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LLM-персонализация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2615184" y="407822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EA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объясняет рекомендации и генерирует план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044952" y="452628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22960" y="470916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987552" y="480974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ranker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2615184" y="480974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жесткие фильтры + семантическое совпадение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3044952" y="5257800"/>
            <a:ext cx="0" cy="164592"/>
          </a:xfrm>
          <a:prstGeom prst="line">
            <a:avLst/>
          </a:prstGeom>
          <a:noFill/>
          <a:ln w="17780">
            <a:solidFill>
              <a:srgbClr val="E5F2F3"/>
            </a:solidFill>
            <a:prstDash val="solid"/>
            <a:headEnd type="none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822960" y="5440680"/>
            <a:ext cx="4434840" cy="530352"/>
          </a:xfrm>
          <a:prstGeom prst="roundRect">
            <a:avLst>
              <a:gd name="adj" fmla="val 8621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BECEE">
                <a:alpha val="1800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87552" y="5541264"/>
            <a:ext cx="1600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Вывод пользователю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2615184" y="5541264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7F2F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направления, roadmap, вакансии, next step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5806440" y="1691640"/>
            <a:ext cx="5532120" cy="2834640"/>
          </a:xfrm>
          <a:prstGeom prst="roundRect">
            <a:avLst>
              <a:gd name="adj" fmla="val 193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824728" y="1764792"/>
            <a:ext cx="73152" cy="26883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989320" y="1801368"/>
            <a:ext cx="523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Почему не только LLM</a:t>
            </a:r>
            <a:endParaRPr lang="en-US" sz="1800" dirty="0"/>
          </a:p>
        </p:txBody>
      </p:sp>
      <p:sp>
        <p:nvSpPr>
          <p:cNvPr id="34" name="Text 31"/>
          <p:cNvSpPr/>
          <p:nvPr/>
        </p:nvSpPr>
        <p:spPr>
          <a:xfrm>
            <a:off x="5989320" y="2203704"/>
            <a:ext cx="5239512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меньше галлюцинаций: факты о профессиях и требованиях лежат в проверяемой базе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больше точности: возраст, график, образование и ограничения учитываются правилами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выше доверие: рекомендации объяснимы, а не выглядят как «магия»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проще масштабировать: текст генерирует модель, а логику подбора контролирует система</a:t>
            </a:r>
            <a:endParaRPr lang="en-US" sz="1350" dirty="0"/>
          </a:p>
        </p:txBody>
      </p:sp>
      <p:sp>
        <p:nvSpPr>
          <p:cNvPr id="35" name="Shape 32"/>
          <p:cNvSpPr/>
          <p:nvPr/>
        </p:nvSpPr>
        <p:spPr>
          <a:xfrm>
            <a:off x="5806440" y="4754880"/>
            <a:ext cx="5532120" cy="987552"/>
          </a:xfrm>
          <a:prstGeom prst="roundRect">
            <a:avLst>
              <a:gd name="adj" fmla="val 5556"/>
            </a:avLst>
          </a:prstGeom>
          <a:solidFill>
            <a:srgbClr val="F3F6F7">
              <a:alpha val="95000"/>
            </a:srgbClr>
          </a:solidFill>
          <a:ln w="12700">
            <a:solidFill>
              <a:srgbClr val="CFE3E6">
                <a:alpha val="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971032" y="4864608"/>
            <a:ext cx="5276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Формула fit-score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971032" y="5266944"/>
            <a:ext cx="52760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интересы 35% + навыки 30% + ограничения/доступность 20% + мотивация 15%</a:t>
            </a:r>
            <a:endParaRPr lang="en-US" sz="1260" dirty="0"/>
          </a:p>
          <a:p>
            <a:pPr indent="0" marL="0">
              <a:buNone/>
            </a:pPr>
            <a:r>
              <a:rPr lang="en-US" sz="1260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(веса можно дообучить на данных пилота)</a:t>
            </a:r>
            <a:endParaRPr lang="en-US" sz="126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ТЕХНИЧЕСКАЯ АРХИТЕКТУРА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30352" y="1152144"/>
            <a:ext cx="822960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1197864"/>
            <a:ext cx="6766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30352" y="2157984"/>
            <a:ext cx="914400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3504" y="2203704"/>
            <a:ext cx="7680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30352" y="3328416"/>
            <a:ext cx="1078992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03504" y="3374136"/>
            <a:ext cx="9326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data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30352" y="4700016"/>
            <a:ext cx="1207008" cy="292608"/>
          </a:xfrm>
          <a:prstGeom prst="roundRect">
            <a:avLst>
              <a:gd name="adj" fmla="val 15625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" y="4745736"/>
            <a:ext cx="106070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интеграции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1828800" y="1508760"/>
            <a:ext cx="3657600" cy="713232"/>
          </a:xfrm>
          <a:prstGeom prst="roundRect">
            <a:avLst>
              <a:gd name="adj" fmla="val 7692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993392" y="1618488"/>
            <a:ext cx="34015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+ Web App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993392" y="2020824"/>
            <a:ext cx="34015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бот ведет диалог, mini app показывает тест, карьерную карту и список вакансий</a:t>
            </a:r>
            <a:endParaRPr lang="en-US" sz="1220" dirty="0"/>
          </a:p>
        </p:txBody>
      </p:sp>
      <p:sp>
        <p:nvSpPr>
          <p:cNvPr id="17" name="Shape 14"/>
          <p:cNvSpPr/>
          <p:nvPr/>
        </p:nvSpPr>
        <p:spPr>
          <a:xfrm>
            <a:off x="5806440" y="1508760"/>
            <a:ext cx="4572000" cy="713232"/>
          </a:xfrm>
          <a:prstGeom prst="roundRect">
            <a:avLst>
              <a:gd name="adj" fmla="val 7692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71032" y="1618488"/>
            <a:ext cx="43159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Пользовательская аналитика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71032" y="2020824"/>
            <a:ext cx="43159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события, completion rate, CTR, сохраненные вакансии, retention</a:t>
            </a:r>
            <a:endParaRPr lang="en-US" sz="1220" dirty="0"/>
          </a:p>
        </p:txBody>
      </p:sp>
      <p:sp>
        <p:nvSpPr>
          <p:cNvPr id="20" name="Shape 17"/>
          <p:cNvSpPr/>
          <p:nvPr/>
        </p:nvSpPr>
        <p:spPr>
          <a:xfrm>
            <a:off x="1828800" y="2514600"/>
            <a:ext cx="256032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993392" y="2624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service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1993392" y="3026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профиль, consent, история, статус</a:t>
            </a:r>
            <a:endParaRPr lang="en-US" sz="1180" dirty="0"/>
          </a:p>
        </p:txBody>
      </p:sp>
      <p:sp>
        <p:nvSpPr>
          <p:cNvPr id="23" name="Shape 20"/>
          <p:cNvSpPr/>
          <p:nvPr/>
        </p:nvSpPr>
        <p:spPr>
          <a:xfrm>
            <a:off x="4498848" y="2514600"/>
            <a:ext cx="256032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663440" y="2624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service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663440" y="3026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профессии, fit-score, roadmap</a:t>
            </a:r>
            <a:endParaRPr lang="en-US" sz="1180" dirty="0"/>
          </a:p>
        </p:txBody>
      </p:sp>
      <p:sp>
        <p:nvSpPr>
          <p:cNvPr id="26" name="Shape 23"/>
          <p:cNvSpPr/>
          <p:nvPr/>
        </p:nvSpPr>
        <p:spPr>
          <a:xfrm>
            <a:off x="7168896" y="2514600"/>
            <a:ext cx="256032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333488" y="2624328"/>
            <a:ext cx="23042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Vacancy service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7333488" y="302666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поиск, фильтрация, ранжирование</a:t>
            </a:r>
            <a:endParaRPr lang="en-US" sz="1180" dirty="0"/>
          </a:p>
        </p:txBody>
      </p:sp>
      <p:sp>
        <p:nvSpPr>
          <p:cNvPr id="29" name="Shape 26"/>
          <p:cNvSpPr/>
          <p:nvPr/>
        </p:nvSpPr>
        <p:spPr>
          <a:xfrm>
            <a:off x="9838944" y="2514600"/>
            <a:ext cx="1508760" cy="877824"/>
          </a:xfrm>
          <a:prstGeom prst="roundRect">
            <a:avLst>
              <a:gd name="adj" fmla="val 6250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0003536" y="2624328"/>
            <a:ext cx="1252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10003536" y="302666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дайджесты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nudges</a:t>
            </a:r>
            <a:endParaRPr lang="en-US" sz="1140" dirty="0"/>
          </a:p>
        </p:txBody>
      </p:sp>
      <p:sp>
        <p:nvSpPr>
          <p:cNvPr id="32" name="Shape 29"/>
          <p:cNvSpPr/>
          <p:nvPr/>
        </p:nvSpPr>
        <p:spPr>
          <a:xfrm>
            <a:off x="1828800" y="3685032"/>
            <a:ext cx="3154680" cy="1024128"/>
          </a:xfrm>
          <a:prstGeom prst="roundRect">
            <a:avLst>
              <a:gd name="adj" fmla="val 5357"/>
            </a:avLst>
          </a:prstGeom>
          <a:solidFill>
            <a:srgbClr val="EB003B"/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1993392" y="3794760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Open-source LLM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1993392" y="4197096"/>
            <a:ext cx="28986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4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 / совместимая модель для диалога и персонализированных объяснений</a:t>
            </a:r>
            <a:endParaRPr lang="en-US" sz="1240" dirty="0"/>
          </a:p>
        </p:txBody>
      </p:sp>
      <p:sp>
        <p:nvSpPr>
          <p:cNvPr id="35" name="Shape 32"/>
          <p:cNvSpPr/>
          <p:nvPr/>
        </p:nvSpPr>
        <p:spPr>
          <a:xfrm>
            <a:off x="5166360" y="3685032"/>
            <a:ext cx="2240280" cy="1024128"/>
          </a:xfrm>
          <a:prstGeom prst="roundRect">
            <a:avLst>
              <a:gd name="adj" fmla="val 53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330952" y="3794760"/>
            <a:ext cx="1984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engine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330952" y="4197096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жесткие фильтры, eligibility, безопасные ответы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7589520" y="3685032"/>
            <a:ext cx="1965960" cy="1024128"/>
          </a:xfrm>
          <a:prstGeom prst="roundRect">
            <a:avLst>
              <a:gd name="adj" fmla="val 53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7754112" y="3794760"/>
            <a:ext cx="1709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pgvector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7754112" y="4197096"/>
            <a:ext cx="170992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профили, профессии, эмбеддинги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738360" y="3685032"/>
            <a:ext cx="1600200" cy="1024128"/>
          </a:xfrm>
          <a:prstGeom prst="roundRect">
            <a:avLst>
              <a:gd name="adj" fmla="val 535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902952" y="3794760"/>
            <a:ext cx="1344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Redis</a:t>
            </a:r>
            <a:endParaRPr lang="en-US" sz="1500" dirty="0"/>
          </a:p>
        </p:txBody>
      </p:sp>
      <p:sp>
        <p:nvSpPr>
          <p:cNvPr id="43" name="Text 40"/>
          <p:cNvSpPr/>
          <p:nvPr/>
        </p:nvSpPr>
        <p:spPr>
          <a:xfrm>
            <a:off x="9902952" y="4197096"/>
            <a:ext cx="1344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кэш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очереди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1828800" y="5047488"/>
            <a:ext cx="3154680" cy="960120"/>
          </a:xfrm>
          <a:prstGeom prst="roundRect">
            <a:avLst>
              <a:gd name="adj" fmla="val 571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1993392" y="5157216"/>
            <a:ext cx="2898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Bot API</a:t>
            </a:r>
            <a:endParaRPr lang="en-US" sz="1500" dirty="0"/>
          </a:p>
        </p:txBody>
      </p:sp>
      <p:sp>
        <p:nvSpPr>
          <p:cNvPr id="46" name="Text 43"/>
          <p:cNvSpPr/>
          <p:nvPr/>
        </p:nvSpPr>
        <p:spPr>
          <a:xfrm>
            <a:off x="1993392" y="5559552"/>
            <a:ext cx="2898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доставка сообщений, кнопки, webhooks, mini app</a:t>
            </a:r>
            <a:endParaRPr lang="en-US" sz="1230" dirty="0"/>
          </a:p>
        </p:txBody>
      </p:sp>
      <p:sp>
        <p:nvSpPr>
          <p:cNvPr id="47" name="Shape 44"/>
          <p:cNvSpPr/>
          <p:nvPr/>
        </p:nvSpPr>
        <p:spPr>
          <a:xfrm>
            <a:off x="5166360" y="5047488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330952" y="5157216"/>
            <a:ext cx="2670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HH API и другие открытые источники</a:t>
            </a:r>
            <a:endParaRPr lang="en-US" sz="1500" dirty="0"/>
          </a:p>
        </p:txBody>
      </p:sp>
      <p:sp>
        <p:nvSpPr>
          <p:cNvPr id="49" name="Text 46"/>
          <p:cNvSpPr/>
          <p:nvPr/>
        </p:nvSpPr>
        <p:spPr>
          <a:xfrm>
            <a:off x="5330952" y="5559552"/>
            <a:ext cx="26700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вакансии, стажировки, метаданные ролей</a:t>
            </a:r>
            <a:endParaRPr lang="en-US" sz="1230" dirty="0"/>
          </a:p>
        </p:txBody>
      </p:sp>
      <p:sp>
        <p:nvSpPr>
          <p:cNvPr id="50" name="Shape 47"/>
          <p:cNvSpPr/>
          <p:nvPr/>
        </p:nvSpPr>
        <p:spPr>
          <a:xfrm>
            <a:off x="8293608" y="5047488"/>
            <a:ext cx="3063240" cy="960120"/>
          </a:xfrm>
          <a:prstGeom prst="roundRect">
            <a:avLst>
              <a:gd name="adj" fmla="val 571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458200" y="5157216"/>
            <a:ext cx="28072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Безопасность и privacy</a:t>
            </a:r>
            <a:endParaRPr lang="en-US" sz="1500" dirty="0"/>
          </a:p>
        </p:txBody>
      </p:sp>
      <p:sp>
        <p:nvSpPr>
          <p:cNvPr id="52" name="Text 49"/>
          <p:cNvSpPr/>
          <p:nvPr/>
        </p:nvSpPr>
        <p:spPr>
          <a:xfrm>
            <a:off x="8458200" y="5559552"/>
            <a:ext cx="280720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ПДн, удаление профиля, логирование, контроль контента</a:t>
            </a:r>
            <a:endParaRPr lang="en-US" sz="1210" dirty="0"/>
          </a:p>
        </p:txBody>
      </p:sp>
      <p:sp>
        <p:nvSpPr>
          <p:cNvPr id="53" name="Shape 50"/>
          <p:cNvSpPr/>
          <p:nvPr/>
        </p:nvSpPr>
        <p:spPr>
          <a:xfrm>
            <a:off x="1828800" y="6236208"/>
            <a:ext cx="9528048" cy="384048"/>
          </a:xfrm>
          <a:prstGeom prst="roundRect">
            <a:avLst>
              <a:gd name="adj" fmla="val 9524"/>
            </a:avLst>
          </a:prstGeom>
          <a:solidFill>
            <a:srgbClr val="F1F5F6">
              <a:alpha val="96000"/>
            </a:srgbClr>
          </a:solidFill>
          <a:ln w="12700">
            <a:solidFill>
              <a:srgbClr val="F1F5F6">
                <a:alpha val="0"/>
              </a:srgbClr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2048256" y="6355080"/>
            <a:ext cx="91074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проста для пилота, но готова к масштабированию: сначала Telegram-first, затем — перенос логики в отдельное мобильное приложение при необходимости.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48463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И ПЛАН ЗАПУСКА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00200"/>
            <a:ext cx="5532120" cy="4480560"/>
          </a:xfrm>
          <a:prstGeom prst="roundRect">
            <a:avLst>
              <a:gd name="adj" fmla="val 1224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673352"/>
            <a:ext cx="73152" cy="433425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709928"/>
            <a:ext cx="523951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1. MVP за 8 недель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9264" y="2112264"/>
            <a:ext cx="5239512" cy="3858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1–2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детализация вопросов диагностики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модель профессий и skill matrix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UX Telegram-бота и mini app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3–5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профиль пользователя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fit-score и топ-3 направления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карьерный план 30/60/90</a:t>
            </a:r>
            <a:endParaRPr lang="en-US" sz="1420" dirty="0"/>
          </a:p>
          <a:p>
            <a:pPr indent="0" marL="0">
              <a:buNone/>
            </a:pP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Недели 6–8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интеграция вакансий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weekly digest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базовая аналитика и feedback loop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6492240" y="1600200"/>
            <a:ext cx="4892040" cy="2148840"/>
          </a:xfrm>
          <a:prstGeom prst="roundRect">
            <a:avLst>
              <a:gd name="adj" fmla="val 2553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510528" y="1673352"/>
            <a:ext cx="73152" cy="200253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675120" y="1709928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входит в пилот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675120" y="2112264"/>
            <a:ext cx="4599432" cy="1527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3–5 карьерных кластеров на старте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 Telegram-бот + mini app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рекомендации, roadmap, вакансии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обратная связь «полезно / не полезно»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ручная админ-панель для контента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6492240" y="3959352"/>
            <a:ext cx="4892040" cy="2121408"/>
          </a:xfrm>
          <a:prstGeom prst="roundRect">
            <a:avLst>
              <a:gd name="adj" fmla="val 2586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10528" y="4032504"/>
            <a:ext cx="73152" cy="1975104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75120" y="4069080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Этап 2. Пилот 12 недель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675120" y="4471416"/>
            <a:ext cx="4599432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подключение вузов/колледжей и карьерных центров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расширение базы профессий и вакансий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CV-помощник и подготовка к интервью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калибровка fit-score по реальным действиям пользователей</a:t>
            </a:r>
            <a:endParaRPr lang="en-US" sz="1330" dirty="0"/>
          </a:p>
          <a:p>
            <a:pPr indent="0" marL="0">
              <a:buNone/>
            </a:pPr>
            <a:r>
              <a:rPr lang="en-US" sz="133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подготовка к масштабированию внутри экосистемы МТС</a:t>
            </a:r>
            <a:endParaRPr lang="en-US" sz="13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16636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И ЭФФЕКТ ДЛЯ МТС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0934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EB003B"/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0976" y="1719072"/>
            <a:ext cx="51846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Star metric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50976" y="2121408"/>
            <a:ext cx="5184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доля пользователей, которые за 7 дней выбрали карьерное направление и сохранили хотя бы 1 релевантную вакансию</a:t>
            </a:r>
            <a:endParaRPr lang="en-US" sz="1280" dirty="0"/>
          </a:p>
        </p:txBody>
      </p:sp>
      <p:sp>
        <p:nvSpPr>
          <p:cNvPr id="9" name="Shape 6"/>
          <p:cNvSpPr/>
          <p:nvPr/>
        </p:nvSpPr>
        <p:spPr>
          <a:xfrm>
            <a:off x="804672" y="2743200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2816352"/>
            <a:ext cx="73152" cy="38404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87552" y="2852928"/>
            <a:ext cx="510235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65%+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87552" y="3255264"/>
            <a:ext cx="5102352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диагностики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804672" y="3401568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69264" y="3511296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50%+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969264" y="3913632"/>
            <a:ext cx="51389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выбор одного из рекомендованных треков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04672" y="4059936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969264" y="4169664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35%+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969264" y="4572000"/>
            <a:ext cx="51389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CTR по вакансии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04672" y="4718304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9264" y="4828032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25%+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969264" y="5230368"/>
            <a:ext cx="51389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retention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804672" y="5376672"/>
            <a:ext cx="5394960" cy="530352"/>
          </a:xfrm>
          <a:prstGeom prst="roundRect">
            <a:avLst>
              <a:gd name="adj" fmla="val 1034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69264" y="5486400"/>
            <a:ext cx="51389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10%+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969264" y="5888736"/>
            <a:ext cx="5138928" cy="-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переход к отклику / собеседованию в пилоте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492240" y="1609344"/>
            <a:ext cx="4892040" cy="4370832"/>
          </a:xfrm>
          <a:prstGeom prst="roundRect">
            <a:avLst>
              <a:gd name="adj" fmla="val 1255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510528" y="1682496"/>
            <a:ext cx="73152" cy="4224528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675120" y="1719072"/>
            <a:ext cx="45994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получает МТС</a:t>
            </a:r>
            <a:endParaRPr lang="en-US" sz="1800" dirty="0"/>
          </a:p>
        </p:txBody>
      </p:sp>
      <p:sp>
        <p:nvSpPr>
          <p:cNvPr id="28" name="Text 25"/>
          <p:cNvSpPr/>
          <p:nvPr/>
        </p:nvSpPr>
        <p:spPr>
          <a:xfrm>
            <a:off x="6675120" y="2121408"/>
            <a:ext cx="4599432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Полезный молодежный сервис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МТС получает точку входа в ежедневный сценарий подростков и студентов.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Усиление HR-бренда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Сервис можно связать с карьерными программами, стажировками и партнерскими вакансиями.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Данные для развития продукта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Появляется понимание, какие профессии и навыки интересуют молодую аудиторию.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Основа для B2B2C-модели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Дальше продукт можно предлагать вузам, работодателям и карьерным центрам.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548640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4983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РИСКИ И КАК ИХ СНИЖАТЬ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49808" y="1691640"/>
            <a:ext cx="11018520" cy="512064"/>
          </a:xfrm>
          <a:prstGeom prst="roundRect">
            <a:avLst>
              <a:gd name="adj" fmla="val 7143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32688" y="1847088"/>
            <a:ext cx="1463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Риск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834640" y="1847088"/>
            <a:ext cx="2057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проявляется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742432" y="1847088"/>
            <a:ext cx="18288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Что делаем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" y="2267712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2404872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Галлюцинации модели</a:t>
            </a:r>
            <a:endParaRPr lang="en-US" sz="1360" dirty="0"/>
          </a:p>
        </p:txBody>
      </p:sp>
      <p:sp>
        <p:nvSpPr>
          <p:cNvPr id="12" name="Text 9"/>
          <p:cNvSpPr/>
          <p:nvPr/>
        </p:nvSpPr>
        <p:spPr>
          <a:xfrm>
            <a:off x="2834640" y="240487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придумывает навыки или советы</a:t>
            </a:r>
            <a:endParaRPr lang="en-US" sz="1220" dirty="0"/>
          </a:p>
        </p:txBody>
      </p:sp>
      <p:sp>
        <p:nvSpPr>
          <p:cNvPr id="13" name="Text 10"/>
          <p:cNvSpPr/>
          <p:nvPr/>
        </p:nvSpPr>
        <p:spPr>
          <a:xfrm>
            <a:off x="5742432" y="2386584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RAG/knowledge base, шаблоны ответов, правила eligibility, human review для контента</a:t>
            </a:r>
            <a:endParaRPr lang="en-US" sz="1210" dirty="0"/>
          </a:p>
        </p:txBody>
      </p:sp>
      <p:sp>
        <p:nvSpPr>
          <p:cNvPr id="14" name="Shape 11"/>
          <p:cNvSpPr/>
          <p:nvPr/>
        </p:nvSpPr>
        <p:spPr>
          <a:xfrm>
            <a:off x="749808" y="3163824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32688" y="3300984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Нерелевантные вакансии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2834640" y="33009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слишком широкий или «шумный» подбор</a:t>
            </a:r>
            <a:endParaRPr lang="en-US" sz="1220" dirty="0"/>
          </a:p>
        </p:txBody>
      </p:sp>
      <p:sp>
        <p:nvSpPr>
          <p:cNvPr id="17" name="Text 14"/>
          <p:cNvSpPr/>
          <p:nvPr/>
        </p:nvSpPr>
        <p:spPr>
          <a:xfrm>
            <a:off x="5742432" y="3282696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жесткие фильтры по возрасту, графику, опыту + обратная связь от пользователя</a:t>
            </a:r>
            <a:endParaRPr lang="en-US" sz="1210" dirty="0"/>
          </a:p>
        </p:txBody>
      </p:sp>
      <p:sp>
        <p:nvSpPr>
          <p:cNvPr id="18" name="Shape 15"/>
          <p:cNvSpPr/>
          <p:nvPr/>
        </p:nvSpPr>
        <p:spPr>
          <a:xfrm>
            <a:off x="749808" y="4059936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932688" y="4197096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Низкое доверие</a:t>
            </a:r>
            <a:endParaRPr lang="en-US" sz="1360" dirty="0"/>
          </a:p>
        </p:txBody>
      </p:sp>
      <p:sp>
        <p:nvSpPr>
          <p:cNvPr id="20" name="Text 17"/>
          <p:cNvSpPr/>
          <p:nvPr/>
        </p:nvSpPr>
        <p:spPr>
          <a:xfrm>
            <a:off x="2834640" y="419709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не понимает, почему именно это ему советуют</a:t>
            </a:r>
            <a:endParaRPr lang="en-US" sz="1220" dirty="0"/>
          </a:p>
        </p:txBody>
      </p:sp>
      <p:sp>
        <p:nvSpPr>
          <p:cNvPr id="21" name="Text 18"/>
          <p:cNvSpPr/>
          <p:nvPr/>
        </p:nvSpPr>
        <p:spPr>
          <a:xfrm>
            <a:off x="5742432" y="4178808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объяснимый fit-score: показать сильные стороны, пробелы и next step</a:t>
            </a:r>
            <a:endParaRPr lang="en-US" sz="1210" dirty="0"/>
          </a:p>
        </p:txBody>
      </p:sp>
      <p:sp>
        <p:nvSpPr>
          <p:cNvPr id="22" name="Shape 19"/>
          <p:cNvSpPr/>
          <p:nvPr/>
        </p:nvSpPr>
        <p:spPr>
          <a:xfrm>
            <a:off x="749808" y="4956048"/>
            <a:ext cx="11018520" cy="749808"/>
          </a:xfrm>
          <a:prstGeom prst="roundRect">
            <a:avLst>
              <a:gd name="adj" fmla="val 3659"/>
            </a:avLst>
          </a:prstGeom>
          <a:solidFill>
            <a:srgbClr val="25343B">
              <a:alpha val="84000"/>
            </a:srgbClr>
          </a:solidFill>
          <a:ln w="12700">
            <a:solidFill>
              <a:srgbClr val="D7E8EA">
                <a:alpha val="1800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32688" y="5093208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с ПДн</a:t>
            </a:r>
            <a:endParaRPr lang="en-US" sz="1360" dirty="0"/>
          </a:p>
        </p:txBody>
      </p:sp>
      <p:sp>
        <p:nvSpPr>
          <p:cNvPr id="24" name="Text 21"/>
          <p:cNvSpPr/>
          <p:nvPr/>
        </p:nvSpPr>
        <p:spPr>
          <a:xfrm>
            <a:off x="2834640" y="509320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чувствительные данные о возрасте, обучении, интересах</a:t>
            </a:r>
            <a:endParaRPr lang="en-US" sz="1220" dirty="0"/>
          </a:p>
        </p:txBody>
      </p:sp>
      <p:sp>
        <p:nvSpPr>
          <p:cNvPr id="25" name="Text 22"/>
          <p:cNvSpPr/>
          <p:nvPr/>
        </p:nvSpPr>
        <p:spPr>
          <a:xfrm>
            <a:off x="5742432" y="5074920"/>
            <a:ext cx="5669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минимизация данных, согласие, удаление профиля, журнал аудита</a:t>
            </a:r>
            <a:endParaRPr lang="en-US" sz="1210" dirty="0"/>
          </a:p>
        </p:txBody>
      </p:sp>
      <p:sp>
        <p:nvSpPr>
          <p:cNvPr id="26" name="Shape 23"/>
          <p:cNvSpPr/>
          <p:nvPr/>
        </p:nvSpPr>
        <p:spPr>
          <a:xfrm>
            <a:off x="1325880" y="6053328"/>
            <a:ext cx="9555480" cy="438912"/>
          </a:xfrm>
          <a:prstGeom prst="roundRect">
            <a:avLst>
              <a:gd name="adj" fmla="val 8333"/>
            </a:avLst>
          </a:prstGeom>
          <a:solidFill>
            <a:srgbClr val="F2F6F7">
              <a:alpha val="96000"/>
            </a:srgbClr>
          </a:solidFill>
          <a:ln w="12700">
            <a:solidFill>
              <a:srgbClr val="F2F6F7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572768" y="6208776"/>
            <a:ext cx="90708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4D55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Главный принцип: AI дает персонализацию, а критичные решения остаются управляемыми правилами и проверяемыми источниками.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areer_case_solution/bg_teal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41280" y="16459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7EF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карьерный трек AI</a:t>
            </a:r>
            <a:endParaRPr lang="en-US" sz="900" dirty="0"/>
          </a:p>
        </p:txBody>
      </p:sp>
      <p:sp>
        <p:nvSpPr>
          <p:cNvPr id="4" name="Shape 1"/>
          <p:cNvSpPr/>
          <p:nvPr/>
        </p:nvSpPr>
        <p:spPr>
          <a:xfrm>
            <a:off x="438912" y="411480"/>
            <a:ext cx="7589520" cy="731520"/>
          </a:xfrm>
          <a:prstGeom prst="roundRect">
            <a:avLst>
              <a:gd name="adj" fmla="val 15000"/>
            </a:avLst>
          </a:prstGeom>
          <a:solidFill>
            <a:srgbClr val="ECECEC"/>
          </a:solidFill>
          <a:ln w="12700">
            <a:solidFill>
              <a:srgbClr val="ECECEC">
                <a:alpha val="0"/>
              </a:srgbClr>
            </a:solidFill>
            <a:prstDash val="solid"/>
          </a:ln>
          <a:effectLst>
            <a:outerShdw sx="100000" sy="100000" kx="0" ky="0" algn="bl" rotWithShape="0" blurRad="19050" dist="12700" dir="2700000">
              <a:srgbClr val="000000">
                <a:alpha val="18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13232" y="521208"/>
            <a:ext cx="7086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5B5B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ИТОГ: ПОЧЕМУ ЭТО РЕШЕНИЕ РАБОТАЕТ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786384" y="1664208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04672" y="1737360"/>
            <a:ext cx="73152" cy="346557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9264" y="17739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Закрывает весь бриф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69264" y="2176272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решении есть все требуемые блоки: диагностика, рекомендации, карьерный навигатор и вакансии. Формат — Telegram-бот / mini app, как и просит кейс.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4370832" y="1664208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89120" y="1737360"/>
            <a:ext cx="73152" cy="346557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53712" y="17739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Реализуемо быстро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4553712" y="2176272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Архитектура подходит для MVP: Telegram как быстрый канал, open-source LLM как AI-ядро, официальные и открытые источники вакансий как data layer.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7955280" y="1664208"/>
            <a:ext cx="3456432" cy="3611880"/>
          </a:xfrm>
          <a:prstGeom prst="roundRect">
            <a:avLst>
              <a:gd name="adj" fmla="val 1587"/>
            </a:avLst>
          </a:prstGeom>
          <a:solidFill>
            <a:srgbClr val="25343B">
              <a:alpha val="82000"/>
            </a:srgbClr>
          </a:solidFill>
          <a:ln w="12700">
            <a:solidFill>
              <a:srgbClr val="CFE3E6">
                <a:alpha val="20000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973568" y="1737360"/>
            <a:ext cx="73152" cy="3465576"/>
          </a:xfrm>
          <a:prstGeom prst="rect">
            <a:avLst/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138160" y="1773936"/>
            <a:ext cx="31638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Дает измеримый эффект</a:t>
            </a:r>
            <a:endParaRPr lang="en-US" sz="1900" dirty="0"/>
          </a:p>
        </p:txBody>
      </p:sp>
      <p:sp>
        <p:nvSpPr>
          <p:cNvPr id="17" name="Text 14"/>
          <p:cNvSpPr/>
          <p:nvPr/>
        </p:nvSpPr>
        <p:spPr>
          <a:xfrm>
            <a:off x="8138160" y="2176272"/>
            <a:ext cx="3163824" cy="29900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EA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Пользователь получает ясность и next step, а МТС — полезный сервис для молодежи, HR-бренд и основу для масштабирования в экосистеме.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1051560" y="5650992"/>
            <a:ext cx="10149840" cy="676656"/>
          </a:xfrm>
          <a:prstGeom prst="roundRect">
            <a:avLst>
              <a:gd name="adj" fmla="val 6757"/>
            </a:avLst>
          </a:prstGeom>
          <a:solidFill>
            <a:srgbClr val="EB003B"/>
          </a:solidFill>
          <a:ln w="12700">
            <a:solidFill>
              <a:srgbClr val="EB003B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353312" y="5870448"/>
            <a:ext cx="9555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Следующий шаг: запуск пилота на ограниченной аудитории студентов и школьников, сбор обратной связи и доводка fit-score на реальных пользовательских данных.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1148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F5F5F5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Карьерный Трек AI — решение кейса</dc:title>
  <dc:subject>Решение кейса Карьерный трек AI</dc:subject>
  <dc:creator>OpenAI</dc:creator>
  <cp:lastModifiedBy>OpenAI</cp:lastModifiedBy>
  <cp:revision>1</cp:revision>
  <dcterms:created xsi:type="dcterms:W3CDTF">2026-04-03T10:48:12Z</dcterms:created>
  <dcterms:modified xsi:type="dcterms:W3CDTF">2026-04-03T10:48:12Z</dcterms:modified>
</cp:coreProperties>
</file>
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1568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2–5.
- Титульный слайд и визуальный стиль адаптированы под оформление предоставленного кейса.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2–3: целевая аудитория, социальный статус, потребности и проблематика.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4–5: требуемые функциональные компоненты и ожидаемый результат.
- Формат mini app внутри Telegram предложен как продуктовая интерпретация требования об интеграции с Telegram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Сценарий построен на основе требований брифа: диагностика пользователя, рекомендации, карьерный навигатор и поиск вакансий (PDF, стр. 4–5).
- Оценка длительности шага — проектное допущение для удобства пользовательского пути.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4: перечень обязательных функциональных компонентов.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4–5.
- DeepSeek публикует открытые модели и репозитории на GitHub; пример официальных репозиториев семейства DeepSeek-V3 и DeepSeek-R1: GitHub deepseek-ai. — https://github.com/deepseek-ai
- DeepSeek также описывает релиз DeepSeek-R1 как fully open-source в официальной документации API. — https://api-docs.deepseek.com/news/news250120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5: интеграция с Telegram API, open-source языковые модели и работа с открытыми источниками вакансий.
- Telegram Bot API — это HTTP-based interface для разработки ботов; официальный док: https://core.telegram.org/bots/api
- HeadHunter предоставляет официальный API для вакансий и интеграций: https://dev.hh.ru/
- DeepSeek публикует открытые репозитории моделей на GitHub: https://github.com/deepseek-ai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Сроки MVP и пилота — проектное предложение автора решения; в исходном брифе сроки не заданы.
- Состав MVP вытекает из обязательных модулей кейса (PDF, стр. 4–5).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KPI на слайде — целевые показатели пилота, а не внешняя статистика.
- Бизнес-эффект для МТС — продуктовая гипотеза, основанная на сценарии использования сервиса.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Риски и меры снижения — авторское проектное предложение для реализации кейса.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4–5.
- Telegram Bot API: https://core.telegram.org/bots/api
- HeadHunter API: https://dev.hh.ru/
- DeepSeek GitHub: https://github.com/deepseek-ai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80644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86384" y="1691640"/>
            <a:ext cx="5897880" cy="2057400"/>
          </a:xfrm>
          <a:prstGeom prst="roundRect">
            <a:avLst>
              <a:gd name="adj" fmla="val 3556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4E6E8">
                <a:alpha val="16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179222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Готовое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кейса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4128" y="235915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E9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Telegram-агент для школьников и студентов 16–22 лет, который помогает выбрать карьерное направление, понять дефицит навыков и быстро найти первую стажировку, подработку или junior-вакансию.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699248" y="1810512"/>
            <a:ext cx="2788920" cy="3154680"/>
          </a:xfrm>
          <a:prstGeom prst="roundRect">
            <a:avLst>
              <a:gd name="adj" fmla="val 1967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73568" y="19933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9281160" y="19933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9281160" y="349300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7973568" y="434340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case-ready concept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77824" y="406908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25343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414223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+ mini app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18688" y="406908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2C6B73">
              <a:alpha val="82000"/>
            </a:srgbClr>
          </a:solidFill>
          <a:ln w="12700">
            <a:solidFill>
              <a:srgbClr val="2C6B7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28416" y="414223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LLM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13248" y="406908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25343B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22976" y="414223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вакансии + трек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848413" y="5238452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не просто «бот с советами», а персональный AI-наставник, который переводит пользователя из состояния «не знаю, кем быть» в понятный план действий.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786384" y="618386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Авторское решение включает анализ брифа, продуктовую концепцию, архитектуру, MVP, KPI и план пилота.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БРИФА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1508760"/>
            <a:ext cx="3246120" cy="4251960"/>
          </a:xfrm>
          <a:prstGeom prst="roundRect">
            <a:avLst>
              <a:gd name="adj" fmla="val 169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" y="1581912"/>
            <a:ext cx="73152" cy="410565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618488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аудитория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2020824"/>
            <a:ext cx="2953512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16–22 года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школьники старших классов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студенты СПО и вузов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находятся на старте карьеры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активно используют цифровые технологии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 нужна не длинная профориентация, а быстрый и понятный путь: кто я, куда мне идти и что делать уже сейчас.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15968" y="1600200"/>
            <a:ext cx="6903720" cy="1078992"/>
          </a:xfrm>
          <a:prstGeom prst="roundRect">
            <a:avLst>
              <a:gd name="adj" fmla="val 508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34256" y="1673352"/>
            <a:ext cx="73152" cy="932688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98848" y="1709928"/>
            <a:ext cx="6611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 1. Нет профессионального самоопределения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98848" y="2112264"/>
            <a:ext cx="661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не понимает, какие направления реально подходят именно ему и как выбирать профессию без опыта.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4315968" y="2880360"/>
            <a:ext cx="6903720" cy="1078992"/>
          </a:xfrm>
          <a:prstGeom prst="roundRect">
            <a:avLst>
              <a:gd name="adj" fmla="val 508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34256" y="2953512"/>
            <a:ext cx="73152" cy="932688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98848" y="2990088"/>
            <a:ext cx="6611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 2. Сложно найти первую работу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498848" y="3392424"/>
            <a:ext cx="661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 время учебы трудно отсеять подходящие стажировки и подработки по возрасту, графику, опыту и уровню навыков.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4315968" y="4160520"/>
            <a:ext cx="6903720" cy="1078992"/>
          </a:xfrm>
          <a:prstGeom prst="roundRect">
            <a:avLst>
              <a:gd name="adj" fmla="val 508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34256" y="4233672"/>
            <a:ext cx="73152" cy="932688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98848" y="4270248"/>
            <a:ext cx="6611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 3. Неясен карьерный путь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498848" y="4672584"/>
            <a:ext cx="661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если направление интересно, непонятно, какие навыки развивать, какие шаги делать и в какой последовательности.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4315968" y="5577840"/>
            <a:ext cx="6903720" cy="658368"/>
          </a:xfrm>
          <a:prstGeom prst="roundRect">
            <a:avLst>
              <a:gd name="adj" fmla="val 6944"/>
            </a:avLst>
          </a:prstGeom>
          <a:solidFill>
            <a:srgbClr val="F3F6F7">
              <a:alpha val="95000"/>
            </a:srgbClr>
          </a:solidFill>
          <a:ln w="1270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35424" y="5806440"/>
            <a:ext cx="6446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50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нужен AI-агент, который объединяет диагностику, профориентацию, карьерный план и релевантные вакансии в одном сценарии.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44068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ПРОДУКТОВОЕ РЕШЕНИЕ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77240" y="1481328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Формат: Telegram-бот с mini app, чтобы вход был быстрым, а сложные экраны (диагностика, карьерная карта, вакансии) открывались внутри Web App.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22960" y="2286000"/>
            <a:ext cx="1828800" cy="2057400"/>
          </a:xfrm>
          <a:prstGeom prst="roundRect">
            <a:avLst>
              <a:gd name="adj" fmla="val 300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7E7E8">
                <a:alpha val="1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Диагностика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9264" y="3127248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Анкета + интересы + навыки + ограничения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70048" y="3319272"/>
            <a:ext cx="347472" cy="0"/>
          </a:xfrm>
          <a:prstGeom prst="line">
            <a:avLst/>
          </a:prstGeom>
          <a:noFill/>
          <a:ln w="22860">
            <a:solidFill>
              <a:srgbClr val="E5F3F4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090672" y="2286000"/>
            <a:ext cx="1828800" cy="2057400"/>
          </a:xfrm>
          <a:prstGeom prst="roundRect">
            <a:avLst>
              <a:gd name="adj" fmla="val 300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7E7E8">
                <a:alpha val="1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18688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Профиль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236976" y="3127248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собирает карту сильных сторон и дефицитов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937760" y="3319272"/>
            <a:ext cx="347472" cy="0"/>
          </a:xfrm>
          <a:prstGeom prst="line">
            <a:avLst/>
          </a:prstGeom>
          <a:noFill/>
          <a:ln w="22860">
            <a:solidFill>
              <a:srgbClr val="E5F3F4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358384" y="2286000"/>
            <a:ext cx="1828800" cy="2057400"/>
          </a:xfrm>
          <a:prstGeom prst="roundRect">
            <a:avLst>
              <a:gd name="adj" fmla="val 3000"/>
            </a:avLst>
          </a:prstGeom>
          <a:solidFill>
            <a:srgbClr val="EB003B"/>
          </a:solidFill>
          <a:ln w="12700">
            <a:solidFill>
              <a:srgbClr val="D7E7E8">
                <a:alpha val="1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Направления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04688" y="3127248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Топ-3 профессии с объяснением «почему подходит»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205472" y="3319272"/>
            <a:ext cx="347472" cy="0"/>
          </a:xfrm>
          <a:prstGeom prst="line">
            <a:avLst/>
          </a:prstGeom>
          <a:noFill/>
          <a:ln w="22860">
            <a:solidFill>
              <a:srgbClr val="E5F3F4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626096" y="2286000"/>
            <a:ext cx="1828800" cy="2057400"/>
          </a:xfrm>
          <a:prstGeom prst="roundRect">
            <a:avLst>
              <a:gd name="adj" fmla="val 300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7E7E8">
                <a:alpha val="1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54112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Карьерный трек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72400" y="3127248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30/60/90 дней и этапы роста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473184" y="3319272"/>
            <a:ext cx="347472" cy="0"/>
          </a:xfrm>
          <a:prstGeom prst="line">
            <a:avLst/>
          </a:prstGeom>
          <a:noFill/>
          <a:ln w="22860">
            <a:solidFill>
              <a:srgbClr val="E5F3F4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893808" y="2286000"/>
            <a:ext cx="1828800" cy="2057400"/>
          </a:xfrm>
          <a:prstGeom prst="roundRect">
            <a:avLst>
              <a:gd name="adj" fmla="val 300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7E7E8">
                <a:alpha val="1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21824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Вакансии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040112" y="3127248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стажировок и junior-вакансий под профиль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24128" y="4937760"/>
            <a:ext cx="10058400" cy="841248"/>
          </a:xfrm>
          <a:prstGeom prst="roundRect">
            <a:avLst>
              <a:gd name="adj" fmla="val 6522"/>
            </a:avLst>
          </a:prstGeom>
          <a:solidFill>
            <a:srgbClr val="ECECEC">
              <a:alpha val="96000"/>
            </a:srgbClr>
          </a:solidFill>
          <a:ln w="12700">
            <a:solidFill>
              <a:srgbClr val="ECECE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82810" y="5146217"/>
            <a:ext cx="9555480" cy="460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4C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ценность: пользователь получает не абстрактный совет, а связку «подходящее направление → конкретный план развития → реальные вакансии здесь и сейчас».</a:t>
            </a:r>
            <a:endParaRPr lang="en-US" sz="16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461772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ПОЛЬЗОВАТЕЛЯ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1417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должен занимать не больше 7–10 минут до первого полезного результата.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792224" cy="3017520"/>
          </a:xfrm>
          <a:prstGeom prst="roundRect">
            <a:avLst>
              <a:gd name="adj" fmla="val 3061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8E9EA">
                <a:alpha val="1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3134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7D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26700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" y="31546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Профиль, возраст, город, формат занятости</a:t>
            </a:r>
            <a:endParaRPr lang="en-US" sz="1240" dirty="0"/>
          </a:p>
        </p:txBody>
      </p:sp>
      <p:sp>
        <p:nvSpPr>
          <p:cNvPr id="11" name="Shape 8"/>
          <p:cNvSpPr/>
          <p:nvPr/>
        </p:nvSpPr>
        <p:spPr>
          <a:xfrm>
            <a:off x="2450592" y="3675888"/>
            <a:ext cx="64008" cy="0"/>
          </a:xfrm>
          <a:prstGeom prst="line">
            <a:avLst/>
          </a:prstGeom>
          <a:noFill/>
          <a:ln w="1905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542032" y="2148840"/>
            <a:ext cx="1792224" cy="3017520"/>
          </a:xfrm>
          <a:prstGeom prst="roundRect">
            <a:avLst>
              <a:gd name="adj" fmla="val 3061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8E9EA">
                <a:alpha val="1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1760" y="23134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7D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688336" y="26700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688336" y="31546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Интересы, предметы, навыки, опыт, доступное время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4352544" y="3675888"/>
            <a:ext cx="64008" cy="0"/>
          </a:xfrm>
          <a:prstGeom prst="line">
            <a:avLst/>
          </a:prstGeom>
          <a:noFill/>
          <a:ln w="1905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443984" y="2148840"/>
            <a:ext cx="1792224" cy="3017520"/>
          </a:xfrm>
          <a:prstGeom prst="roundRect">
            <a:avLst>
              <a:gd name="adj" fmla="val 3061"/>
            </a:avLst>
          </a:prstGeom>
          <a:solidFill>
            <a:srgbClr val="EB003B"/>
          </a:solidFill>
          <a:ln w="12700">
            <a:solidFill>
              <a:srgbClr val="D8E9EA">
                <a:alpha val="1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53712" y="23134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90288" y="26700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90288" y="31546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FF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Топ-3 карьерных направления и fit-score</a:t>
            </a:r>
            <a:endParaRPr lang="en-US" sz="1240" dirty="0"/>
          </a:p>
        </p:txBody>
      </p:sp>
      <p:sp>
        <p:nvSpPr>
          <p:cNvPr id="21" name="Shape 18"/>
          <p:cNvSpPr/>
          <p:nvPr/>
        </p:nvSpPr>
        <p:spPr>
          <a:xfrm>
            <a:off x="6254496" y="3675888"/>
            <a:ext cx="64008" cy="0"/>
          </a:xfrm>
          <a:prstGeom prst="line">
            <a:avLst/>
          </a:prstGeom>
          <a:noFill/>
          <a:ln w="1905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345936" y="2148840"/>
            <a:ext cx="1792224" cy="3017520"/>
          </a:xfrm>
          <a:prstGeom prst="roundRect">
            <a:avLst>
              <a:gd name="adj" fmla="val 3061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8E9EA">
                <a:alpha val="1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55664" y="23134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7D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92240" y="26700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92240" y="31546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Персональный трек 30/60/90 дней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8156448" y="3675888"/>
            <a:ext cx="64008" cy="0"/>
          </a:xfrm>
          <a:prstGeom prst="line">
            <a:avLst/>
          </a:prstGeom>
          <a:noFill/>
          <a:ln w="1905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247888" y="2148840"/>
            <a:ext cx="1792224" cy="3017520"/>
          </a:xfrm>
          <a:prstGeom prst="roundRect">
            <a:avLst>
              <a:gd name="adj" fmla="val 3061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8E9EA">
                <a:alpha val="18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57616" y="23134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7D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394192" y="26700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Вакансии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394192" y="31546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стажировок, подработок и junior-ролей</a:t>
            </a:r>
            <a:endParaRPr lang="en-US" sz="1240" dirty="0"/>
          </a:p>
        </p:txBody>
      </p:sp>
      <p:sp>
        <p:nvSpPr>
          <p:cNvPr id="31" name="Shape 28"/>
          <p:cNvSpPr/>
          <p:nvPr/>
        </p:nvSpPr>
        <p:spPr>
          <a:xfrm>
            <a:off x="10058400" y="3675888"/>
            <a:ext cx="64008" cy="0"/>
          </a:xfrm>
          <a:prstGeom prst="line">
            <a:avLst/>
          </a:prstGeom>
          <a:noFill/>
          <a:ln w="1905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0149840" y="2148840"/>
            <a:ext cx="1792224" cy="3017520"/>
          </a:xfrm>
          <a:prstGeom prst="roundRect">
            <a:avLst>
              <a:gd name="adj" fmla="val 3061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8E9EA">
                <a:alpha val="18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259568" y="23134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7D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0296144" y="26700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Сопровождение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296144" y="31546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Недельные напоминания, CV и интервью-советы</a:t>
            </a:r>
            <a:endParaRPr lang="en-US" sz="1240" dirty="0"/>
          </a:p>
        </p:txBody>
      </p:sp>
      <p:sp>
        <p:nvSpPr>
          <p:cNvPr id="36" name="Text 33"/>
          <p:cNvSpPr/>
          <p:nvPr/>
        </p:nvSpPr>
        <p:spPr>
          <a:xfrm>
            <a:off x="929945" y="6140195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wow-момент — уже после диагностики: бот не просто перечисляет профессии, а объясняет, почему именно эти направления подходят пользователю.</a:t>
            </a:r>
            <a:endParaRPr lang="en-US" sz="142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66928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68096" y="566928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МОДУЛИ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13232" y="150876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581912"/>
            <a:ext cx="73152" cy="177393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618488"/>
            <a:ext cx="505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Система диагностики пользователя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96112" y="2020824"/>
            <a:ext cx="5056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базовые данные: возраст, город, образование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интересы, любимые предметы, формат работы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оценка hard/soft/digital skills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загрузка CV или свободного описания о себе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44768" y="150876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63056" y="1581912"/>
            <a:ext cx="73152" cy="177393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27648" y="1618488"/>
            <a:ext cx="505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Рекомендательная система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327648" y="2020824"/>
            <a:ext cx="5056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определение профессиональных склонностей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подбор 3–5 направлений с fit-score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объяснение сильных сторон и зон роста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персональный список навыков к развитию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13232" y="3675888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3749040"/>
            <a:ext cx="73152" cy="177393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3785616"/>
            <a:ext cx="505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Карьерный навигатор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96112" y="4187952"/>
            <a:ext cx="5056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карта роста: стартовая роль → следующая роль → цель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план 30/60/90 дней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рекомендованные курсы, практики и проекты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напоминания и прогресс по этапам</a:t>
            </a:r>
            <a:endParaRPr lang="en-US" sz="1330" dirty="0"/>
          </a:p>
        </p:txBody>
      </p:sp>
      <p:sp>
        <p:nvSpPr>
          <p:cNvPr id="18" name="Shape 15"/>
          <p:cNvSpPr/>
          <p:nvPr/>
        </p:nvSpPr>
        <p:spPr>
          <a:xfrm>
            <a:off x="6144768" y="3675888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63056" y="3749040"/>
            <a:ext cx="73152" cy="177393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7648" y="3785616"/>
            <a:ext cx="505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Система поиска вакансий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327648" y="4187952"/>
            <a:ext cx="5056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фильтрация по возрасту, графику, образованию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учет навыков и уровня опыта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акцент на стажировки, part-time и junior-вакансии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объяснение, почему вакансия подходит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85216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AI-ЯДРО И ЛОГИКА РЕШЕНИЯ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86384" y="141732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1463040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гибридный подход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434840" cy="530352"/>
          </a:xfrm>
          <a:prstGeom prst="roundRect">
            <a:avLst>
              <a:gd name="adj" fmla="val 8621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BECEE">
                <a:alpha val="1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1949" y="19476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пользователя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615184" y="18836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7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анкета, навыки, свободный текст, CV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44952" y="2331720"/>
            <a:ext cx="0" cy="164592"/>
          </a:xfrm>
          <a:prstGeom prst="line">
            <a:avLst/>
          </a:prstGeom>
          <a:noFill/>
          <a:ln w="1778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22960" y="2514600"/>
            <a:ext cx="4434840" cy="530352"/>
          </a:xfrm>
          <a:prstGeom prst="roundRect">
            <a:avLst>
              <a:gd name="adj" fmla="val 8621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BECEE">
                <a:alpha val="1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1949" y="27020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Структурный скоринг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15184" y="261518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7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интересы + навыки + ограничения + мотивация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044952" y="3063240"/>
            <a:ext cx="0" cy="164592"/>
          </a:xfrm>
          <a:prstGeom prst="line">
            <a:avLst/>
          </a:prstGeom>
          <a:noFill/>
          <a:ln w="1778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22960" y="3246120"/>
            <a:ext cx="4434840" cy="530352"/>
          </a:xfrm>
          <a:prstGeom prst="roundRect">
            <a:avLst>
              <a:gd name="adj" fmla="val 8621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BECEE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849" y="34015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профессий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615184" y="33467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7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ролей, требования, карьерные переходы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044952" y="3794760"/>
            <a:ext cx="0" cy="164592"/>
          </a:xfrm>
          <a:prstGeom prst="line">
            <a:avLst/>
          </a:prstGeom>
          <a:noFill/>
          <a:ln w="1778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22960" y="3977640"/>
            <a:ext cx="4434840" cy="530352"/>
          </a:xfrm>
          <a:prstGeom prst="roundRect">
            <a:avLst>
              <a:gd name="adj" fmla="val 8621"/>
            </a:avLst>
          </a:prstGeom>
          <a:solidFill>
            <a:srgbClr val="EB003B"/>
          </a:solidFill>
          <a:ln w="12700">
            <a:solidFill>
              <a:srgbClr val="DBECEE">
                <a:alpha val="1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41193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LLM-персонализация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615184" y="40782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объясняет рекомендации и генерирует план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044952" y="4526280"/>
            <a:ext cx="0" cy="164592"/>
          </a:xfrm>
          <a:prstGeom prst="line">
            <a:avLst/>
          </a:prstGeom>
          <a:noFill/>
          <a:ln w="1778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22960" y="4709160"/>
            <a:ext cx="4434840" cy="530352"/>
          </a:xfrm>
          <a:prstGeom prst="roundRect">
            <a:avLst>
              <a:gd name="adj" fmla="val 8621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BECEE">
                <a:alpha val="18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4856127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Vacancy ranker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615184" y="480974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7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жесткие фильтры + семантическое совпадение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044952" y="5257800"/>
            <a:ext cx="0" cy="164592"/>
          </a:xfrm>
          <a:prstGeom prst="line">
            <a:avLst/>
          </a:prstGeom>
          <a:noFill/>
          <a:ln w="1778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22960" y="5440680"/>
            <a:ext cx="4434840" cy="530352"/>
          </a:xfrm>
          <a:prstGeom prst="roundRect">
            <a:avLst>
              <a:gd name="adj" fmla="val 8621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BECEE">
                <a:alpha val="1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8713" y="56235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пользователю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615184" y="55412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E7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направления, roadmap, вакансии, next step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806440" y="1691640"/>
            <a:ext cx="5532120" cy="2834640"/>
          </a:xfrm>
          <a:prstGeom prst="roundRect">
            <a:avLst>
              <a:gd name="adj" fmla="val 193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24728" y="1764792"/>
            <a:ext cx="73152" cy="268833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89320" y="1801368"/>
            <a:ext cx="5239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 только LLM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989320" y="2203704"/>
            <a:ext cx="523951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меньше галлюцинаций: факты о профессиях и требованиях лежат в проверяемой базе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больше точности: возраст, график, образование и ограничения учитываются правилами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выше доверие: рекомендации объяснимы, а не выглядят как «магия»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проще масштабировать: текст генерирует модель, а логику подбора контролирует система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5806440" y="4754880"/>
            <a:ext cx="5532120" cy="987552"/>
          </a:xfrm>
          <a:prstGeom prst="roundRect">
            <a:avLst>
              <a:gd name="adj" fmla="val 5556"/>
            </a:avLst>
          </a:prstGeom>
          <a:solidFill>
            <a:srgbClr val="F3F6F7">
              <a:alpha val="95000"/>
            </a:srgbClr>
          </a:solidFill>
          <a:ln w="12700">
            <a:solidFill>
              <a:srgbClr val="CFE3E6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71032" y="4759452"/>
            <a:ext cx="5276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fit-score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929797" y="5093208"/>
            <a:ext cx="543924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D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интересы 35% + навыки 30% + ограничения/доступность 20% + мотивация 15%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D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(веса можно дообучить на данных пилота)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57784" y="521208"/>
            <a:ext cx="538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АРХИТЕКТУРА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0352" y="1152144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1197864"/>
            <a:ext cx="676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0352" y="2157984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2203704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" y="3328416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374136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data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0352" y="4700016"/>
            <a:ext cx="1207008" cy="292608"/>
          </a:xfrm>
          <a:prstGeom prst="roundRect">
            <a:avLst>
              <a:gd name="adj" fmla="val 15625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" y="4745736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интеграции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828800" y="1508760"/>
            <a:ext cx="3657600" cy="713232"/>
          </a:xfrm>
          <a:prstGeom prst="roundRect">
            <a:avLst>
              <a:gd name="adj" fmla="val 7692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93392" y="1500145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 + Web App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 rot="10800000" flipV="1">
            <a:off x="1993391" y="1827142"/>
            <a:ext cx="3516133" cy="626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ведет диалог, mini app показывает тест, карьерную карту и список вакансий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5806440" y="150876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71032" y="1618488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Пользовательская аналитика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829565" y="1993392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события, completion rate, CTR, сохраненные вакансии, retention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1828800" y="2514600"/>
            <a:ext cx="2560320" cy="877824"/>
          </a:xfrm>
          <a:prstGeom prst="roundRect">
            <a:avLst>
              <a:gd name="adj" fmla="val 625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993392" y="262432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service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929384" y="302666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профиль, consent, история, статус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4498848" y="2514600"/>
            <a:ext cx="2560320" cy="877824"/>
          </a:xfrm>
          <a:prstGeom prst="roundRect">
            <a:avLst>
              <a:gd name="adj" fmla="val 625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262432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service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663440" y="30266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профессии, fit-score, roadmap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7168896" y="2514600"/>
            <a:ext cx="2560320" cy="877824"/>
          </a:xfrm>
          <a:prstGeom prst="roundRect">
            <a:avLst>
              <a:gd name="adj" fmla="val 625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33488" y="262432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Vacancy service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255698" y="301294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поиск, фильтрация, ранжирование</a:t>
            </a:r>
            <a:endParaRPr lang="en-US" sz="1180" dirty="0"/>
          </a:p>
        </p:txBody>
      </p:sp>
      <p:sp>
        <p:nvSpPr>
          <p:cNvPr id="29" name="Shape 26"/>
          <p:cNvSpPr/>
          <p:nvPr/>
        </p:nvSpPr>
        <p:spPr>
          <a:xfrm>
            <a:off x="9838944" y="2514600"/>
            <a:ext cx="1508760" cy="877824"/>
          </a:xfrm>
          <a:prstGeom prst="roundRect">
            <a:avLst>
              <a:gd name="adj" fmla="val 625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03536" y="2624328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980940" y="2963716"/>
            <a:ext cx="11521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дайджесты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nudges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828800" y="3685032"/>
            <a:ext cx="3154680" cy="1024128"/>
          </a:xfrm>
          <a:prstGeom prst="roundRect">
            <a:avLst>
              <a:gd name="adj" fmla="val 5357"/>
            </a:avLst>
          </a:prstGeom>
          <a:solidFill>
            <a:srgbClr val="EB003B"/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993392" y="3730752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LLM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993392" y="4098102"/>
            <a:ext cx="2898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/ совместимая модель для диалога и персонализированных объяснений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166360" y="3685032"/>
            <a:ext cx="2240280" cy="1024128"/>
          </a:xfrm>
          <a:prstGeom prst="roundRect">
            <a:avLst>
              <a:gd name="adj" fmla="val 53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30952" y="3794760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330952" y="4197096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жесткие фильтры, eligibility, безопасные ответы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589520" y="3685032"/>
            <a:ext cx="1965960" cy="1024128"/>
          </a:xfrm>
          <a:prstGeom prst="roundRect">
            <a:avLst>
              <a:gd name="adj" fmla="val 53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54112" y="3794760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7754112" y="4261104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профили, профессии, эмбеддинги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9738360" y="3685032"/>
            <a:ext cx="1600200" cy="1024128"/>
          </a:xfrm>
          <a:prstGeom prst="roundRect">
            <a:avLst>
              <a:gd name="adj" fmla="val 53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902952" y="3794760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9902952" y="4197096"/>
            <a:ext cx="1344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очереди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828800" y="5047488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993392" y="5157216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 API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1993392" y="5559552"/>
            <a:ext cx="2898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сообщений, кнопки, webhooks, mini app</a:t>
            </a:r>
            <a:endParaRPr lang="en-US" sz="1230" dirty="0"/>
          </a:p>
        </p:txBody>
      </p:sp>
      <p:sp>
        <p:nvSpPr>
          <p:cNvPr id="47" name="Shape 44"/>
          <p:cNvSpPr/>
          <p:nvPr/>
        </p:nvSpPr>
        <p:spPr>
          <a:xfrm>
            <a:off x="5166360" y="5047488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30952" y="515721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 API и другие открытые источники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5330952" y="5559552"/>
            <a:ext cx="2670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вакансии, стажировки, метаданные ролей</a:t>
            </a:r>
            <a:endParaRPr lang="en-US" sz="1230" dirty="0"/>
          </a:p>
        </p:txBody>
      </p:sp>
      <p:sp>
        <p:nvSpPr>
          <p:cNvPr id="50" name="Shape 47"/>
          <p:cNvSpPr/>
          <p:nvPr/>
        </p:nvSpPr>
        <p:spPr>
          <a:xfrm>
            <a:off x="8293608" y="5047488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458200" y="5157216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privacy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8458200" y="5559552"/>
            <a:ext cx="2807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минимизация ПДн, удаление профиля, логирование, контроль контента</a:t>
            </a:r>
            <a:endParaRPr lang="en-US" sz="1210" dirty="0"/>
          </a:p>
        </p:txBody>
      </p:sp>
      <p:sp>
        <p:nvSpPr>
          <p:cNvPr id="53" name="Shape 50"/>
          <p:cNvSpPr/>
          <p:nvPr/>
        </p:nvSpPr>
        <p:spPr>
          <a:xfrm>
            <a:off x="1828800" y="6236208"/>
            <a:ext cx="9528048" cy="384048"/>
          </a:xfrm>
          <a:prstGeom prst="roundRect">
            <a:avLst>
              <a:gd name="adj" fmla="val 9524"/>
            </a:avLst>
          </a:prstGeom>
          <a:solidFill>
            <a:srgbClr val="F1F5F6">
              <a:alpha val="96000"/>
            </a:srgbClr>
          </a:solidFill>
          <a:ln w="12700">
            <a:solidFill>
              <a:srgbClr val="F1F5F6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048256" y="6355080"/>
            <a:ext cx="9107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D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проста для пилота, но готова к масштабированию: сначала Telegram-first, затем — перенос логики в отдельное мобильное приложение при необходимости.</a:t>
            </a:r>
            <a:endParaRPr lang="en-US" sz="115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484632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И ПЛАН ЗАПУСКА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86384" y="1600200"/>
            <a:ext cx="5532120" cy="4480560"/>
          </a:xfrm>
          <a:prstGeom prst="roundRect">
            <a:avLst>
              <a:gd name="adj" fmla="val 1224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1673352"/>
            <a:ext cx="73152" cy="433425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" y="1709928"/>
            <a:ext cx="5239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1. MVP за 8 недель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9264" y="2112264"/>
            <a:ext cx="5239512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 1–2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детализация вопросов диагностики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модель профессий и skill matrix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UX Telegram-бота и mini app</a:t>
            </a:r>
            <a:endParaRPr lang="en-US" sz="1420" dirty="0"/>
          </a:p>
          <a:p>
            <a:pPr marL="0" indent="0">
              <a:buNone/>
            </a:pP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 3–5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 пользователя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fit-score и топ-3 направления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карьерный план 30/60/90</a:t>
            </a:r>
            <a:endParaRPr lang="en-US" sz="1420" dirty="0"/>
          </a:p>
          <a:p>
            <a:pPr marL="0" indent="0">
              <a:buNone/>
            </a:pP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 6–8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интеграция вакансий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weekly digest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базовая аналитика и feedback loop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6492240" y="1600200"/>
            <a:ext cx="4892040" cy="2148840"/>
          </a:xfrm>
          <a:prstGeom prst="roundRect">
            <a:avLst>
              <a:gd name="adj" fmla="val 2553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10528" y="1673352"/>
            <a:ext cx="73152" cy="200253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1709928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входит в пилот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75120" y="2112264"/>
            <a:ext cx="459943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3–5 карьерных кластеров на старте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Telegram-бот + mini app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рекомендации, roadmap, вакансии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обратная связь «полезно / не полезно»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ручная админ-панель для контента</a:t>
            </a:r>
            <a:endParaRPr lang="en-US" sz="1330" dirty="0"/>
          </a:p>
        </p:txBody>
      </p:sp>
      <p:sp>
        <p:nvSpPr>
          <p:cNvPr id="14" name="Shape 11"/>
          <p:cNvSpPr/>
          <p:nvPr/>
        </p:nvSpPr>
        <p:spPr>
          <a:xfrm>
            <a:off x="6492240" y="3959352"/>
            <a:ext cx="4892040" cy="2121408"/>
          </a:xfrm>
          <a:prstGeom prst="roundRect">
            <a:avLst>
              <a:gd name="adj" fmla="val 2586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10528" y="4032504"/>
            <a:ext cx="73152" cy="1975104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4069080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2. Пилот 12 недель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675120" y="4471416"/>
            <a:ext cx="45994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подключение вузов/колледжей и карьерных центров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расширение базы профессий и вакансий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CV-помощник и подготовка к интервью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калибровка fit-score по реальным действиям пользователей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подготовка к масштабированию внутри экосистемы МТС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" y="27432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16636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И ЭФФЕКТ ДЛЯ МТС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86384" y="1609344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EB003B"/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" y="1719072"/>
            <a:ext cx="5184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metric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50976" y="2121408"/>
            <a:ext cx="518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пользователей, которые за 7 дней выбрали карьерное направление и сохранили хотя бы 1 релевантную вакансию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804672" y="274320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816352"/>
            <a:ext cx="73152" cy="384048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2852928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65%+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435220" y="3222134"/>
            <a:ext cx="5102352" cy="234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диагностики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4672" y="3401568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9264" y="3511296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053955" y="3899916"/>
            <a:ext cx="5138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одного из рекомендованных треков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4672" y="4059936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4169664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35%+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754597" y="4555170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по </a:t>
            </a: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вакансии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04672" y="4718304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4828032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25%+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807208" y="5202936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retention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4672" y="5376672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264" y="5486400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10%+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843907" y="594360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к отклику / собеседованию в пилоте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92240" y="1609344"/>
            <a:ext cx="4892040" cy="4370832"/>
          </a:xfrm>
          <a:prstGeom prst="roundRect">
            <a:avLst>
              <a:gd name="adj" fmla="val 125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10528" y="1682496"/>
            <a:ext cx="73152" cy="4224528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1719072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МТС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675120" y="2121408"/>
            <a:ext cx="459943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Полезный молодежный сервис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МТС получает точку входа в ежедневный сценарий подростков и студентов.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Усиление HR-бренда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можно связать с карьерными программами, стажировками и партнерскими вакансиями.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Данные для развития продукта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Появляется понимание, какие профессии и навыки интересуют молодую аудиторию.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Основа для B2B2C-модели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продукт можно предлагать вузам, работодателям и карьерным центрам.</a:t>
            </a:r>
            <a:endParaRPr lang="en-US" sz="13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И КАК ИХ СНИЖАТЬ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9808" y="1691640"/>
            <a:ext cx="11018520" cy="512064"/>
          </a:xfrm>
          <a:prstGeom prst="roundRect">
            <a:avLst>
              <a:gd name="adj" fmla="val 7143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84708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834640" y="1847088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проявляется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42432" y="184708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" y="2267712"/>
            <a:ext cx="11018520" cy="749808"/>
          </a:xfrm>
          <a:prstGeom prst="roundRect">
            <a:avLst>
              <a:gd name="adj" fmla="val 3659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7E8EA">
                <a:alpha val="1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24048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Галлюцинации модели</a:t>
            </a:r>
            <a:endParaRPr lang="en-US" sz="1360" dirty="0"/>
          </a:p>
        </p:txBody>
      </p:sp>
      <p:sp>
        <p:nvSpPr>
          <p:cNvPr id="12" name="Text 9"/>
          <p:cNvSpPr/>
          <p:nvPr/>
        </p:nvSpPr>
        <p:spPr>
          <a:xfrm>
            <a:off x="2834640" y="2404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придумывает навыки или советы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5742432" y="238658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RAG/knowledge base, шаблоны ответов, правила eligibility, human review для контента</a:t>
            </a:r>
            <a:endParaRPr lang="en-US" sz="1210" dirty="0"/>
          </a:p>
        </p:txBody>
      </p:sp>
      <p:sp>
        <p:nvSpPr>
          <p:cNvPr id="14" name="Shape 11"/>
          <p:cNvSpPr/>
          <p:nvPr/>
        </p:nvSpPr>
        <p:spPr>
          <a:xfrm>
            <a:off x="749808" y="3163824"/>
            <a:ext cx="11018520" cy="749808"/>
          </a:xfrm>
          <a:prstGeom prst="roundRect">
            <a:avLst>
              <a:gd name="adj" fmla="val 3659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7E8EA">
                <a:alpha val="1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330098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Нерелевантные вакансии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2834640" y="33009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слишком широкий или «шумный» подбор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5742432" y="328269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жесткие фильтры по возрасту, графику, опыту + обратная связь от пользователя</a:t>
            </a:r>
            <a:endParaRPr lang="en-US" sz="1210" dirty="0"/>
          </a:p>
        </p:txBody>
      </p:sp>
      <p:sp>
        <p:nvSpPr>
          <p:cNvPr id="18" name="Shape 15"/>
          <p:cNvSpPr/>
          <p:nvPr/>
        </p:nvSpPr>
        <p:spPr>
          <a:xfrm>
            <a:off x="749808" y="4059936"/>
            <a:ext cx="11018520" cy="749808"/>
          </a:xfrm>
          <a:prstGeom prst="roundRect">
            <a:avLst>
              <a:gd name="adj" fmla="val 3659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7E8EA">
                <a:alpha val="1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419709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Низкое доверие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2834640" y="41970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не понимает, почему именно это ему советуют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5742432" y="417880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объяснимый fit-score: показать сильные стороны, пробелы и next step</a:t>
            </a:r>
            <a:endParaRPr lang="en-US" sz="1210" dirty="0"/>
          </a:p>
        </p:txBody>
      </p:sp>
      <p:sp>
        <p:nvSpPr>
          <p:cNvPr id="22" name="Shape 19"/>
          <p:cNvSpPr/>
          <p:nvPr/>
        </p:nvSpPr>
        <p:spPr>
          <a:xfrm>
            <a:off x="749808" y="4956048"/>
            <a:ext cx="11018520" cy="749808"/>
          </a:xfrm>
          <a:prstGeom prst="roundRect">
            <a:avLst>
              <a:gd name="adj" fmla="val 3659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7E8EA">
                <a:alpha val="1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50932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ПДн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2834640" y="50932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чувствительные данные о возрасте, обучении, интересах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5742432" y="507492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минимизация данных, согласие, удаление профиля, журнал аудита</a:t>
            </a:r>
            <a:endParaRPr lang="en-US" sz="1210" dirty="0"/>
          </a:p>
        </p:txBody>
      </p:sp>
      <p:sp>
        <p:nvSpPr>
          <p:cNvPr id="26" name="Shape 23"/>
          <p:cNvSpPr/>
          <p:nvPr/>
        </p:nvSpPr>
        <p:spPr>
          <a:xfrm>
            <a:off x="1325880" y="6053328"/>
            <a:ext cx="9555480" cy="438912"/>
          </a:xfrm>
          <a:prstGeom prst="roundRect">
            <a:avLst>
              <a:gd name="adj" fmla="val 8333"/>
            </a:avLst>
          </a:prstGeom>
          <a:solidFill>
            <a:srgbClr val="F2F6F7">
              <a:alpha val="96000"/>
            </a:srgbClr>
          </a:solidFill>
          <a:ln w="12700">
            <a:solidFill>
              <a:srgbClr val="F2F6F7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72768" y="6208776"/>
            <a:ext cx="9070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D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принцип: AI дает персонализацию, а критичные решения остаются управляемыми правилами и проверяемыми источниками.</a:t>
            </a:r>
            <a:endParaRPr lang="en-US" sz="12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758952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200" y="52120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ПОЧЕМУ ЭТО РЕШЕНИЕ РАБОТАЕТ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86384" y="1664208"/>
            <a:ext cx="3456432" cy="3611880"/>
          </a:xfrm>
          <a:prstGeom prst="roundRect">
            <a:avLst>
              <a:gd name="adj" fmla="val 158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1737360"/>
            <a:ext cx="73152" cy="346557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" y="177393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Закрывает весь бриф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9264" y="2176272"/>
            <a:ext cx="316382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решении есть все требуемые блоки: диагностика, рекомендации, карьерный навигатор и вакансии. Формат — Telegram-бот / mini app, как и просит кейс.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4370832" y="1664208"/>
            <a:ext cx="3456432" cy="3611880"/>
          </a:xfrm>
          <a:prstGeom prst="roundRect">
            <a:avLst>
              <a:gd name="adj" fmla="val 158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1737360"/>
            <a:ext cx="73152" cy="346557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53712" y="177393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Реализуемо быстро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553712" y="2176272"/>
            <a:ext cx="316382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подходит для MVP: Telegram как быстрый канал, open-source LLM как AI-ядро, официальные и открытые источники вакансий как data layer.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7955280" y="1664208"/>
            <a:ext cx="3456432" cy="3611880"/>
          </a:xfrm>
          <a:prstGeom prst="roundRect">
            <a:avLst>
              <a:gd name="adj" fmla="val 158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73568" y="1737360"/>
            <a:ext cx="73152" cy="346557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177393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Дает измеримый эффект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138160" y="2297264"/>
            <a:ext cx="316382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получает ясность и next step, а МТС — полезный сервис для молодежи, HR-бренд и основу для масштабирования в экосистеме.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1051560" y="5650992"/>
            <a:ext cx="10149840" cy="676656"/>
          </a:xfrm>
          <a:prstGeom prst="roundRect">
            <a:avLst>
              <a:gd name="adj" fmla="val 6757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53312" y="5870448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шаг: запуск пилота на ограниченной аудитории студентов и школьников, сбор обратной связи и доводка fit-score на реальных пользовательских данных.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1963</Words>
  <Application>Microsoft Office PowerPoint</Application>
  <PresentationFormat>Широкоэкранный</PresentationFormat>
  <Paragraphs>261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Карьерный Трек AI — решение кейса</dc:title>
  <dc:subject>Решение кейса Карьерный трек AI</dc:subject>
  <dc:creator>OpenAI</dc:creator>
  <cp:lastModifiedBy>exampertler583@outlook.com</cp:lastModifiedBy>
  <cp:revision>2</cp:revision>
  <dcterms:created xsi:type="dcterms:W3CDTF">2026-04-03T10:48:12Z</dcterms:created>
  <dcterms:modified xsi:type="dcterms:W3CDTF">2026-04-05T06:45:47Z</dcterms:modified>
</cp:coreProperties>
</file>